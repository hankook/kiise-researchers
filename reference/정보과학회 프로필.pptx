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0" autoAdjust="0"/>
    <p:restoredTop sz="94658"/>
  </p:normalViewPr>
  <p:slideViewPr>
    <p:cSldViewPr snapToGrid="0">
      <p:cViewPr varScale="1">
        <p:scale>
          <a:sx n="80" d="100"/>
          <a:sy n="80" d="100"/>
        </p:scale>
        <p:origin x="37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61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4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26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80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49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0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78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58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8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26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E6586-4569-48A3-A7C6-BE6B9DA269D1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3DCAE-2ACD-46E2-821D-7145ED635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60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works.bwise.kr/erica/browse-researcher" TargetMode="External"/><Relationship Id="rId2" Type="http://schemas.openxmlformats.org/officeDocument/2006/relationships/hyperlink" Target="mailto:abcde123@hanyang.ac.k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C9B6-D6DE-B216-E5CA-C4AA6349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3773BE1-4D58-B462-A1B1-3723D31C7B58}"/>
              </a:ext>
            </a:extLst>
          </p:cNvPr>
          <p:cNvSpPr/>
          <p:nvPr/>
        </p:nvSpPr>
        <p:spPr>
          <a:xfrm>
            <a:off x="6867" y="795011"/>
            <a:ext cx="6851134" cy="868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496CC205-A8BC-168C-B840-6ED962EA7BF3}"/>
              </a:ext>
            </a:extLst>
          </p:cNvPr>
          <p:cNvSpPr/>
          <p:nvPr/>
        </p:nvSpPr>
        <p:spPr>
          <a:xfrm>
            <a:off x="6866" y="268132"/>
            <a:ext cx="6851134" cy="52754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815A615C-FDB0-730C-3491-2264358D09EA}"/>
              </a:ext>
            </a:extLst>
          </p:cNvPr>
          <p:cNvSpPr/>
          <p:nvPr/>
        </p:nvSpPr>
        <p:spPr>
          <a:xfrm>
            <a:off x="1431334" y="804397"/>
            <a:ext cx="3789025" cy="814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최종 학위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~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대학교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~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박사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(</a:t>
            </a:r>
            <a:r>
              <a:rPr kumimoji="1" lang="ko-KR" altLang="en-US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세부전공명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)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최초 임용일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  <a:endParaRPr kumimoji="1" lang="en" altLang="ko-KR" sz="70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en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E-mail : </a:t>
            </a:r>
            <a:r>
              <a:rPr kumimoji="1" lang="en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hlinkClick r:id="rId2"/>
              </a:rPr>
              <a:t>abcde123@xxx.ac.kr</a:t>
            </a:r>
            <a:endParaRPr kumimoji="1" lang="en" altLang="ko-KR" sz="70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연구실 홈페이지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EA86C31A-1C80-5AE0-15AC-567B6F289EE4}"/>
              </a:ext>
            </a:extLst>
          </p:cNvPr>
          <p:cNvSpPr/>
          <p:nvPr/>
        </p:nvSpPr>
        <p:spPr>
          <a:xfrm flipH="1">
            <a:off x="1305388" y="457474"/>
            <a:ext cx="4120966" cy="346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00" tIns="0" rIns="0" bIns="0" rtlCol="0" anchor="ctr"/>
          <a:lstStyle/>
          <a:p>
            <a:pPr marL="6109"/>
            <a:r>
              <a:rPr kumimoji="1" lang="ko-KR" altLang="en-US" sz="900" b="1" dirty="0">
                <a:solidFill>
                  <a:schemeClr val="bg1"/>
                </a:solidFill>
                <a:latin typeface="KoPubDotum Bold" pitchFamily="2" charset="-127"/>
                <a:ea typeface="KoPubDotum Bold" pitchFamily="2" charset="-127"/>
              </a:rPr>
              <a:t>소속 직위</a:t>
            </a:r>
            <a:r>
              <a:rPr kumimoji="1" lang="en-US" altLang="ko-KR" sz="900" b="1" dirty="0">
                <a:solidFill>
                  <a:schemeClr val="bg1"/>
                </a:solidFill>
                <a:latin typeface="KoPubDotum Bold" pitchFamily="2" charset="-127"/>
                <a:ea typeface="KoPubDotum Bold" pitchFamily="2" charset="-127"/>
              </a:rPr>
              <a:t>: ~</a:t>
            </a:r>
            <a:r>
              <a:rPr kumimoji="1" lang="ko-KR" altLang="en-US" sz="900" b="1" dirty="0">
                <a:solidFill>
                  <a:schemeClr val="bg1"/>
                </a:solidFill>
                <a:latin typeface="KoPubDotum Bold" pitchFamily="2" charset="-127"/>
                <a:ea typeface="KoPubDotum Bold" pitchFamily="2" charset="-127"/>
              </a:rPr>
              <a:t>대학 </a:t>
            </a:r>
            <a:r>
              <a:rPr kumimoji="1" lang="en-US" altLang="ko-KR" sz="900" b="1" dirty="0">
                <a:solidFill>
                  <a:schemeClr val="bg1"/>
                </a:solidFill>
                <a:latin typeface="KoPubDotum Bold" pitchFamily="2" charset="-127"/>
                <a:ea typeface="KoPubDotum Bold" pitchFamily="2" charset="-127"/>
              </a:rPr>
              <a:t>~</a:t>
            </a:r>
            <a:r>
              <a:rPr kumimoji="1" lang="ko-KR" altLang="en-US" sz="900" b="1" dirty="0">
                <a:solidFill>
                  <a:schemeClr val="bg1"/>
                </a:solidFill>
                <a:latin typeface="KoPubDotum Bold" pitchFamily="2" charset="-127"/>
                <a:ea typeface="KoPubDotum Bold" pitchFamily="2" charset="-127"/>
              </a:rPr>
              <a:t>학과 교수</a:t>
            </a:r>
          </a:p>
        </p:txBody>
      </p:sp>
      <p:sp>
        <p:nvSpPr>
          <p:cNvPr id="180" name="평행 사변형[P] 7">
            <a:extLst>
              <a:ext uri="{FF2B5EF4-FFF2-40B4-BE49-F238E27FC236}">
                <a16:creationId xmlns:a16="http://schemas.microsoft.com/office/drawing/2014/main" id="{F3E3CA2E-E9C2-7D1E-D586-18ED84B2C11B}"/>
              </a:ext>
            </a:extLst>
          </p:cNvPr>
          <p:cNvSpPr/>
          <p:nvPr/>
        </p:nvSpPr>
        <p:spPr>
          <a:xfrm>
            <a:off x="1213139" y="457474"/>
            <a:ext cx="1132936" cy="217637"/>
          </a:xfrm>
          <a:prstGeom prst="parallelogram">
            <a:avLst>
              <a:gd name="adj" fmla="val 40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6109" algn="ctr"/>
            <a:r>
              <a:rPr kumimoji="1" lang="ko-KR" altLang="en-US" sz="900" b="1" spc="300" dirty="0" err="1">
                <a:solidFill>
                  <a:srgbClr val="002060"/>
                </a:solidFill>
                <a:latin typeface="HYHeadLine-Medium" panose="02030600000101010101" pitchFamily="18" charset="-127"/>
                <a:ea typeface="HYHeadLine-Medium" panose="02030600000101010101" pitchFamily="18" charset="-127"/>
              </a:rPr>
              <a:t>김정보</a:t>
            </a:r>
            <a:endParaRPr kumimoji="1" lang="ko-KR" altLang="en-US" sz="900" b="1" spc="300" dirty="0">
              <a:solidFill>
                <a:srgbClr val="002060"/>
              </a:solidFill>
              <a:latin typeface="HYHeadLine-Medium" panose="02030600000101010101" pitchFamily="18" charset="-127"/>
              <a:ea typeface="HYHeadLine-Medium" panose="02030600000101010101" pitchFamily="18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D81F8949-78CD-6541-F544-1B805FB47B05}"/>
              </a:ext>
            </a:extLst>
          </p:cNvPr>
          <p:cNvSpPr/>
          <p:nvPr/>
        </p:nvSpPr>
        <p:spPr>
          <a:xfrm>
            <a:off x="358213" y="457475"/>
            <a:ext cx="947171" cy="116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01226D58-33A6-FE1E-D515-16B966B0DCF8}"/>
              </a:ext>
            </a:extLst>
          </p:cNvPr>
          <p:cNvSpPr txBox="1"/>
          <p:nvPr/>
        </p:nvSpPr>
        <p:spPr>
          <a:xfrm>
            <a:off x="496764" y="951318"/>
            <a:ext cx="670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사진</a:t>
            </a:r>
          </a:p>
        </p:txBody>
      </p:sp>
      <p:sp>
        <p:nvSpPr>
          <p:cNvPr id="206" name="사각형 설명선 13">
            <a:extLst>
              <a:ext uri="{FF2B5EF4-FFF2-40B4-BE49-F238E27FC236}">
                <a16:creationId xmlns:a16="http://schemas.microsoft.com/office/drawing/2014/main" id="{29F0EDC8-F6FA-F6EF-776E-E8B040093EED}"/>
              </a:ext>
            </a:extLst>
          </p:cNvPr>
          <p:cNvSpPr/>
          <p:nvPr/>
        </p:nvSpPr>
        <p:spPr>
          <a:xfrm>
            <a:off x="3365871" y="917785"/>
            <a:ext cx="2001956" cy="682619"/>
          </a:xfrm>
          <a:prstGeom prst="wedgeRectCallout">
            <a:avLst>
              <a:gd name="adj1" fmla="val -87360"/>
              <a:gd name="adj2" fmla="val 44731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연구실 홈페이지 없을 경우</a:t>
            </a:r>
            <a:r>
              <a:rPr lang="en-US" altLang="ko-KR" sz="700" dirty="0"/>
              <a:t> </a:t>
            </a:r>
          </a:p>
          <a:p>
            <a:pPr algn="ctr"/>
            <a:r>
              <a:rPr lang="ko-KR" altLang="en-US" sz="700" dirty="0"/>
              <a:t>①</a:t>
            </a:r>
            <a:r>
              <a:rPr lang="en-US" altLang="ko-KR" sz="700" dirty="0"/>
              <a:t> </a:t>
            </a:r>
            <a:r>
              <a:rPr lang="en-US" altLang="ko-KR" sz="700" dirty="0" err="1"/>
              <a:t>Scholarworks</a:t>
            </a:r>
            <a:r>
              <a:rPr lang="en-US" altLang="ko-KR" sz="700" dirty="0"/>
              <a:t>, </a:t>
            </a:r>
            <a:r>
              <a:rPr lang="ko-KR" altLang="en-US" sz="700" dirty="0"/>
              <a:t>② </a:t>
            </a:r>
            <a:r>
              <a:rPr lang="en-US" altLang="ko-KR" sz="700" dirty="0"/>
              <a:t>Scopus </a:t>
            </a:r>
            <a:r>
              <a:rPr lang="ko-KR" altLang="en-US" sz="700" dirty="0"/>
              <a:t>등 연구자 </a:t>
            </a:r>
            <a:r>
              <a:rPr lang="en-US" altLang="ko-KR" sz="700" dirty="0" err="1"/>
              <a:t>url</a:t>
            </a:r>
            <a:r>
              <a:rPr lang="en-US" altLang="ko-KR" sz="700" dirty="0"/>
              <a:t> </a:t>
            </a:r>
            <a:r>
              <a:rPr lang="ko-KR" altLang="en-US" sz="700" dirty="0"/>
              <a:t>기재</a:t>
            </a:r>
            <a:endParaRPr lang="en-US" altLang="ko-KR" sz="700" dirty="0"/>
          </a:p>
          <a:p>
            <a:pPr algn="ctr"/>
            <a:r>
              <a:rPr lang="en-US" altLang="ko-KR" sz="600" dirty="0"/>
              <a:t>(</a:t>
            </a:r>
            <a:r>
              <a:rPr lang="en-US" altLang="ko-KR" sz="600" dirty="0" err="1"/>
              <a:t>Scholarworks</a:t>
            </a:r>
            <a:r>
              <a:rPr lang="en-US" altLang="ko-KR" sz="600" dirty="0"/>
              <a:t>: </a:t>
            </a:r>
            <a:r>
              <a:rPr lang="en-US" altLang="ko-KR" sz="600" dirty="0">
                <a:hlinkClick r:id="rId3"/>
              </a:rPr>
              <a:t>https://scholarworks.bwise.kr/erica/browse-researcher</a:t>
            </a:r>
            <a:r>
              <a:rPr lang="en-US" altLang="ko-KR" sz="600" dirty="0"/>
              <a:t> </a:t>
            </a:r>
            <a:r>
              <a:rPr lang="ko-KR" altLang="en-US" sz="600" dirty="0"/>
              <a:t>접속 후 본인 페이지  검색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08" name="사각형 설명선 22">
            <a:extLst>
              <a:ext uri="{FF2B5EF4-FFF2-40B4-BE49-F238E27FC236}">
                <a16:creationId xmlns:a16="http://schemas.microsoft.com/office/drawing/2014/main" id="{C3FC0267-5916-787D-5D30-C734B9CF89FE}"/>
              </a:ext>
            </a:extLst>
          </p:cNvPr>
          <p:cNvSpPr/>
          <p:nvPr/>
        </p:nvSpPr>
        <p:spPr>
          <a:xfrm>
            <a:off x="3365871" y="2309478"/>
            <a:ext cx="2001956" cy="233230"/>
          </a:xfrm>
          <a:prstGeom prst="wedgeRectCallout">
            <a:avLst>
              <a:gd name="adj1" fmla="val -85947"/>
              <a:gd name="adj2" fmla="val -53318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/>
              <a:t>연구키워드</a:t>
            </a:r>
            <a:r>
              <a:rPr lang="ko-KR" altLang="en-US" sz="700" dirty="0"/>
              <a:t> </a:t>
            </a:r>
            <a:r>
              <a:rPr lang="en-US" altLang="ko-KR" sz="700" dirty="0"/>
              <a:t>5~10</a:t>
            </a:r>
            <a:r>
              <a:rPr lang="ko-KR" altLang="en-US" sz="700" dirty="0"/>
              <a:t>개 사이로 기재 가능</a:t>
            </a:r>
          </a:p>
        </p:txBody>
      </p:sp>
      <p:sp>
        <p:nvSpPr>
          <p:cNvPr id="210" name="Slide Number Placeholder 5">
            <a:extLst>
              <a:ext uri="{FF2B5EF4-FFF2-40B4-BE49-F238E27FC236}">
                <a16:creationId xmlns:a16="http://schemas.microsoft.com/office/drawing/2014/main" id="{27D2A6C0-DE38-2977-2D9D-81C8BB67E5FB}"/>
              </a:ext>
            </a:extLst>
          </p:cNvPr>
          <p:cNvSpPr txBox="1">
            <a:spLocks/>
          </p:cNvSpPr>
          <p:nvPr/>
        </p:nvSpPr>
        <p:spPr>
          <a:xfrm>
            <a:off x="6333004" y="324913"/>
            <a:ext cx="518130" cy="178263"/>
          </a:xfrm>
          <a:prstGeom prst="rect">
            <a:avLst/>
          </a:prstGeom>
        </p:spPr>
        <p:txBody>
          <a:bodyPr wrap="none" anchor="ctr"/>
          <a:lstStyle>
            <a:defPPr>
              <a:defRPr lang="en-US"/>
            </a:defPPr>
            <a:lvl1pPr marL="0" algn="ctr" defTabSz="457200" rtl="0" eaLnBrk="1" latinLnBrk="0" hangingPunct="1">
              <a:defRPr sz="8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67000"/>
                  </a:prstClr>
                </a:solidFill>
                <a:effectLst/>
                <a:uLnTx/>
                <a:uFillTx/>
                <a:latin typeface="Gmarket Sans TTF Bold" panose="02000000000000000000" pitchFamily="2" charset="-128"/>
                <a:ea typeface="Gmarket Sans TTF Bold" panose="02000000000000000000" pitchFamily="2" charset="-128"/>
                <a:cs typeface="+mn-cs"/>
              </a:rPr>
              <a:t>최근 업데이트일</a:t>
            </a:r>
            <a:r>
              <a:rPr kumimoji="1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67000"/>
                  </a:prstClr>
                </a:solidFill>
                <a:effectLst/>
                <a:uLnTx/>
                <a:uFillTx/>
                <a:latin typeface="Gmarket Sans TTF Bold" panose="02000000000000000000" pitchFamily="2" charset="-128"/>
                <a:ea typeface="Gmarket Sans TTF Bold" panose="02000000000000000000" pitchFamily="2" charset="-128"/>
                <a:cs typeface="+mn-cs"/>
              </a:rPr>
              <a:t>:</a:t>
            </a:r>
            <a:endParaRPr kumimoji="1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67000"/>
                </a:prstClr>
              </a:solidFill>
              <a:effectLst/>
              <a:uLnTx/>
              <a:uFillTx/>
              <a:latin typeface="Gmarket Sans TTF Bold" panose="02000000000000000000" pitchFamily="2" charset="-128"/>
              <a:ea typeface="Gmarket Sans TTF Bold" panose="02000000000000000000" pitchFamily="2" charset="-128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E41F52-4C08-73AD-3A3D-3B71938A1D34}"/>
              </a:ext>
            </a:extLst>
          </p:cNvPr>
          <p:cNvSpPr/>
          <p:nvPr/>
        </p:nvSpPr>
        <p:spPr>
          <a:xfrm>
            <a:off x="376761" y="2489342"/>
            <a:ext cx="5956241" cy="10802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Ins="138548" bIns="0" rtlCol="0" anchor="t" anchorCtr="0"/>
          <a:lstStyle/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주저자 논문 출판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,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창업 경험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,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수행과제 등 기재</a:t>
            </a:r>
            <a:endParaRPr kumimoji="1" lang="en-US" altLang="ko-KR" sz="70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글꼴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Dotum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(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) </a:t>
            </a:r>
          </a:p>
          <a:p>
            <a:pPr marL="7938">
              <a:lnSpc>
                <a:spcPct val="110000"/>
              </a:lnSpc>
              <a:spcBef>
                <a:spcPts val="200"/>
              </a:spcBef>
            </a:pP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 - 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돋움체 다운로드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https://www.kopus.org/biz-electronic-font2-2/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글꼴 크기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7  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색상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검정색 기본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/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소제목 혹은 주요 문장의 경우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RGB 0, 32, 96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</a:p>
          <a:p>
            <a:pPr marL="7938">
              <a:lnSpc>
                <a:spcPct val="110000"/>
              </a:lnSpc>
              <a:spcBef>
                <a:spcPts val="200"/>
              </a:spcBef>
            </a:pPr>
            <a:endParaRPr kumimoji="1" lang="ko-KR" altLang="en-US" sz="70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endParaRPr kumimoji="1" lang="ko-KR" altLang="en-US" sz="70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A1888-DAAC-ABC4-810C-69A88AA30CAE}"/>
              </a:ext>
            </a:extLst>
          </p:cNvPr>
          <p:cNvSpPr/>
          <p:nvPr/>
        </p:nvSpPr>
        <p:spPr>
          <a:xfrm>
            <a:off x="376761" y="5334939"/>
            <a:ext cx="5956241" cy="25891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138548" bIns="0" rtlCol="0" anchor="ctr" anchorCtr="0"/>
          <a:lstStyle/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텍스트 및 그림 들어갈 예정</a:t>
            </a:r>
            <a:endParaRPr kumimoji="1" lang="en-US" altLang="ko-KR" sz="700" spc="-4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  <a:sym typeface="Wingdings" panose="05000000000000000000" pitchFamily="2" charset="2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글꼴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: </a:t>
            </a:r>
            <a:r>
              <a:rPr kumimoji="1" lang="en-US" altLang="ko-KR" sz="700" spc="-4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Kopub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 </a:t>
            </a:r>
            <a:r>
              <a:rPr kumimoji="1" lang="en-US" altLang="ko-KR" sz="700" spc="-4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Dotum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(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)</a:t>
            </a:r>
          </a:p>
          <a:p>
            <a:pPr marL="7938">
              <a:lnSpc>
                <a:spcPct val="110000"/>
              </a:lnSpc>
              <a:spcBef>
                <a:spcPts val="200"/>
              </a:spcBef>
            </a:pP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  - 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돋움체 다운로드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https://www.kopus.org/biz-electronic-font2-2/</a:t>
            </a:r>
            <a:endParaRPr kumimoji="1" lang="en-US" altLang="ko-KR" sz="700" spc="-4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  <a:sym typeface="Wingdings" panose="05000000000000000000" pitchFamily="2" charset="2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글꼴 크기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: 7 (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소제목의 경우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8)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색상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검정색 기본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/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소제목 혹은 주요 문장의 경우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RGB 0, 32, 96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endParaRPr kumimoji="1" lang="en-US" altLang="ko-KR" sz="700" spc="-4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  <a:sym typeface="Wingdings" panose="05000000000000000000" pitchFamily="2" charset="2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표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: 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표 제목 색상의 경우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[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붙임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2] 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샘플 참조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(1~2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페이지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5FF0E0-6A1A-BAFC-571A-CAF88CBE62B3}"/>
              </a:ext>
            </a:extLst>
          </p:cNvPr>
          <p:cNvSpPr/>
          <p:nvPr/>
        </p:nvSpPr>
        <p:spPr>
          <a:xfrm>
            <a:off x="376762" y="3766490"/>
            <a:ext cx="1694045" cy="1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6109" algn="ctr"/>
            <a:r>
              <a:rPr kumimoji="1" lang="ko-KR" altLang="en-US" sz="800" b="1" dirty="0">
                <a:solidFill>
                  <a:schemeClr val="bg1"/>
                </a:solidFill>
                <a:latin typeface="HYHeadLine-Medium" panose="02030600000101010101" pitchFamily="18" charset="-127"/>
                <a:ea typeface="HYHeadLine-Medium" panose="02030600000101010101" pitchFamily="18" charset="-127"/>
              </a:rPr>
              <a:t>연구목표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535385-349D-9C14-2646-FBF98472DDBB}"/>
              </a:ext>
            </a:extLst>
          </p:cNvPr>
          <p:cNvSpPr/>
          <p:nvPr/>
        </p:nvSpPr>
        <p:spPr>
          <a:xfrm>
            <a:off x="376762" y="2301612"/>
            <a:ext cx="1694045" cy="20680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6109" algn="ctr"/>
            <a:r>
              <a:rPr kumimoji="1" lang="ko-KR" altLang="en-US" sz="800" b="1" dirty="0">
                <a:solidFill>
                  <a:schemeClr val="bg1"/>
                </a:solidFill>
                <a:latin typeface="HYHeadLine-Medium" panose="02030600000101010101" pitchFamily="18" charset="-127"/>
                <a:ea typeface="HYHeadLine-Medium" panose="02030600000101010101" pitchFamily="18" charset="-127"/>
              </a:rPr>
              <a:t>주요 연구 경력 및 역량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310CD2-EE0C-686E-7C9E-BF838A2BDFB3}"/>
              </a:ext>
            </a:extLst>
          </p:cNvPr>
          <p:cNvSpPr/>
          <p:nvPr/>
        </p:nvSpPr>
        <p:spPr>
          <a:xfrm>
            <a:off x="376763" y="5146223"/>
            <a:ext cx="1694045" cy="1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6109" algn="ctr"/>
            <a:r>
              <a:rPr kumimoji="1" lang="ko-KR" altLang="en-US" sz="800" b="1" dirty="0">
                <a:solidFill>
                  <a:schemeClr val="bg1"/>
                </a:solidFill>
                <a:latin typeface="HYHeadLine-Medium" panose="02030600000101010101" pitchFamily="18" charset="-127"/>
                <a:ea typeface="HYHeadLine-Medium" panose="02030600000101010101" pitchFamily="18" charset="-127"/>
              </a:rPr>
              <a:t>연구내용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871E33-E4DF-8BBB-CCB8-4F2B3D8EF0E0}"/>
              </a:ext>
            </a:extLst>
          </p:cNvPr>
          <p:cNvSpPr/>
          <p:nvPr/>
        </p:nvSpPr>
        <p:spPr>
          <a:xfrm>
            <a:off x="376763" y="1768796"/>
            <a:ext cx="1694045" cy="1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6109" algn="ctr"/>
            <a:r>
              <a:rPr kumimoji="1" lang="ko-KR" altLang="en-US" sz="800" b="1" dirty="0">
                <a:solidFill>
                  <a:schemeClr val="bg1"/>
                </a:solidFill>
                <a:latin typeface="HYHeadLine-Medium" panose="02030600000101010101" pitchFamily="18" charset="-127"/>
                <a:ea typeface="HYHeadLine-Medium" panose="02030600000101010101" pitchFamily="18" charset="-127"/>
              </a:rPr>
              <a:t>연구 키워드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3C5E79E-0A7F-C746-94DB-A4FF13F50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392522"/>
              </p:ext>
            </p:extLst>
          </p:nvPr>
        </p:nvGraphicFramePr>
        <p:xfrm>
          <a:off x="376762" y="1955251"/>
          <a:ext cx="597986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2">
                  <a:extLst>
                    <a:ext uri="{9D8B030D-6E8A-4147-A177-3AD203B41FA5}">
                      <a16:colId xmlns:a16="http://schemas.microsoft.com/office/drawing/2014/main" val="1181467377"/>
                    </a:ext>
                  </a:extLst>
                </a:gridCol>
                <a:gridCol w="1195972">
                  <a:extLst>
                    <a:ext uri="{9D8B030D-6E8A-4147-A177-3AD203B41FA5}">
                      <a16:colId xmlns:a16="http://schemas.microsoft.com/office/drawing/2014/main" val="204228422"/>
                    </a:ext>
                  </a:extLst>
                </a:gridCol>
                <a:gridCol w="1195972">
                  <a:extLst>
                    <a:ext uri="{9D8B030D-6E8A-4147-A177-3AD203B41FA5}">
                      <a16:colId xmlns:a16="http://schemas.microsoft.com/office/drawing/2014/main" val="1104769152"/>
                    </a:ext>
                  </a:extLst>
                </a:gridCol>
                <a:gridCol w="1195972">
                  <a:extLst>
                    <a:ext uri="{9D8B030D-6E8A-4147-A177-3AD203B41FA5}">
                      <a16:colId xmlns:a16="http://schemas.microsoft.com/office/drawing/2014/main" val="2140752299"/>
                    </a:ext>
                  </a:extLst>
                </a:gridCol>
                <a:gridCol w="1195972">
                  <a:extLst>
                    <a:ext uri="{9D8B030D-6E8A-4147-A177-3AD203B41FA5}">
                      <a16:colId xmlns:a16="http://schemas.microsoft.com/office/drawing/2014/main" val="2468553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KoPubDotum Medium" panose="00000600000000000000" pitchFamily="2" charset="-127"/>
                          <a:ea typeface="KoPubDotum Medium" panose="00000600000000000000" pitchFamily="2" charset="-127"/>
                        </a:rPr>
                        <a:t># Computer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KoPubDotum Medium" panose="00000600000000000000" pitchFamily="2" charset="-127"/>
                        <a:ea typeface="KoPubDotum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KoPubDotum Medium" panose="00000600000000000000" pitchFamily="2" charset="-127"/>
                          <a:ea typeface="KoPubDotum Medium" panose="00000600000000000000" pitchFamily="2" charset="-127"/>
                        </a:rPr>
                        <a:t># 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KoPubDotum Medium" panose="00000600000000000000" pitchFamily="2" charset="-127"/>
                        <a:ea typeface="KoPubDotum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KoPubDotum Medium" panose="00000600000000000000" pitchFamily="2" charset="-127"/>
                          <a:ea typeface="KoPubDotum Medium" panose="00000600000000000000" pitchFamily="2" charset="-127"/>
                        </a:rPr>
                        <a:t>#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KoPubDotum Medium" panose="00000600000000000000" pitchFamily="2" charset="-127"/>
                        <a:ea typeface="KoPubDotum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KoPubDotum Medium" panose="00000600000000000000" pitchFamily="2" charset="-127"/>
                          <a:ea typeface="KoPubDotum Medium" panose="00000600000000000000" pitchFamily="2" charset="-127"/>
                        </a:rPr>
                        <a:t>#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KoPubDotum Medium" panose="00000600000000000000" pitchFamily="2" charset="-127"/>
                        <a:ea typeface="KoPubDotum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KoPubDotum Medium" panose="00000600000000000000" pitchFamily="2" charset="-127"/>
                          <a:ea typeface="KoPubDotum Medium" panose="00000600000000000000" pitchFamily="2" charset="-127"/>
                        </a:rPr>
                        <a:t>#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KoPubDotum Medium" panose="00000600000000000000" pitchFamily="2" charset="-127"/>
                        <a:ea typeface="KoPubDotum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816997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F00D67-75F3-7A85-6CC8-0435819D5A3E}"/>
              </a:ext>
            </a:extLst>
          </p:cNvPr>
          <p:cNvSpPr/>
          <p:nvPr/>
        </p:nvSpPr>
        <p:spPr>
          <a:xfrm>
            <a:off x="376762" y="3955207"/>
            <a:ext cx="5956241" cy="10423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Ins="138548" bIns="0" rtlCol="0" anchor="t" anchorCtr="0"/>
          <a:lstStyle/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관련 연구 목표 기재</a:t>
            </a:r>
            <a:endParaRPr kumimoji="1" lang="en-US" altLang="ko-KR" sz="70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글꼴 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Kopub Dotum (Kopub </a:t>
            </a: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) </a:t>
            </a:r>
          </a:p>
          <a:p>
            <a:pPr marL="7938">
              <a:lnSpc>
                <a:spcPct val="110000"/>
              </a:lnSpc>
              <a:spcBef>
                <a:spcPts val="200"/>
              </a:spcBef>
            </a:pP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 - Kopub </a:t>
            </a: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돋움체 다운로드 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https://www.kopus.org/biz-electronic-font2-2/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글꼴 크기 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7  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색상 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검정색 기본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/ </a:t>
            </a:r>
            <a:r>
              <a:rPr kumimoji="1" lang="ko-KR" altLang="en-US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소제목 혹은 주요 문장의 경우 </a:t>
            </a:r>
            <a:r>
              <a:rPr kumimoji="1" lang="en-US" altLang="ko-KR" sz="70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RGB 0, 32, 96</a:t>
            </a:r>
            <a:endParaRPr kumimoji="1" lang="ko-KR" altLang="en-US" sz="70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3107E0-416F-E454-EB76-B5ECBD4E04E6}"/>
              </a:ext>
            </a:extLst>
          </p:cNvPr>
          <p:cNvSpPr/>
          <p:nvPr/>
        </p:nvSpPr>
        <p:spPr>
          <a:xfrm>
            <a:off x="358213" y="8252705"/>
            <a:ext cx="5956241" cy="11958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138548" bIns="0" rtlCol="0" anchor="ctr" anchorCtr="0"/>
          <a:lstStyle/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텍스트 및 그림 들어갈 예정</a:t>
            </a:r>
            <a:endParaRPr kumimoji="1" lang="en-US" altLang="ko-KR" sz="700" spc="-4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  <a:sym typeface="Wingdings" panose="05000000000000000000" pitchFamily="2" charset="2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글꼴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: </a:t>
            </a:r>
            <a:r>
              <a:rPr kumimoji="1" lang="en-US" altLang="ko-KR" sz="700" spc="-4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Kopub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 </a:t>
            </a:r>
            <a:r>
              <a:rPr kumimoji="1" lang="en-US" altLang="ko-KR" sz="700" spc="-4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Dotum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(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)</a:t>
            </a:r>
          </a:p>
          <a:p>
            <a:pPr marL="7938">
              <a:lnSpc>
                <a:spcPct val="110000"/>
              </a:lnSpc>
              <a:spcBef>
                <a:spcPts val="200"/>
              </a:spcBef>
            </a:pP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  - </a:t>
            </a:r>
            <a:r>
              <a:rPr kumimoji="1" lang="en-US" altLang="ko-KR" sz="700" dirty="0" err="1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Kopub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돋움체 다운로드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https://www.kopus.org/biz-electronic-font2-2/</a:t>
            </a:r>
            <a:endParaRPr kumimoji="1" lang="en-US" altLang="ko-KR" sz="700" spc="-4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  <a:sym typeface="Wingdings" panose="05000000000000000000" pitchFamily="2" charset="2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글꼴 크기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: 7 (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소제목의 경우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8)</a:t>
            </a: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색상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: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검정색 기본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/ 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소제목 혹은 주요 문장의 경우 </a:t>
            </a:r>
            <a:r>
              <a:rPr kumimoji="1" lang="en-US" altLang="ko-KR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RGB 0, 32, 96</a:t>
            </a:r>
            <a:r>
              <a:rPr kumimoji="1" lang="ko-KR" altLang="en-US" sz="70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</a:rPr>
              <a:t> </a:t>
            </a:r>
            <a:endParaRPr kumimoji="1" lang="en-US" altLang="ko-KR" sz="700" spc="-40" dirty="0">
              <a:solidFill>
                <a:schemeClr val="tx1"/>
              </a:solidFill>
              <a:latin typeface="KoPubDotum Medium" pitchFamily="2" charset="-127"/>
              <a:ea typeface="KoPubDotum Medium" pitchFamily="2" charset="-127"/>
              <a:sym typeface="Wingdings" panose="05000000000000000000" pitchFamily="2" charset="2"/>
            </a:endParaRPr>
          </a:p>
          <a:p>
            <a:pPr marL="112713" indent="-104775">
              <a:lnSpc>
                <a:spcPct val="110000"/>
              </a:lnSpc>
              <a:spcBef>
                <a:spcPts val="200"/>
              </a:spcBef>
              <a:buFont typeface="Wingdings" pitchFamily="2" charset="2"/>
              <a:buChar char="§"/>
            </a:pP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표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: 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표 제목 색상의 경우 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[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붙임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2] 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샘플 참조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(1~2</a:t>
            </a:r>
            <a:r>
              <a:rPr kumimoji="1" lang="ko-KR" altLang="en-US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페이지</a:t>
            </a:r>
            <a:r>
              <a:rPr kumimoji="1" lang="en-US" altLang="ko-KR" sz="700" spc="-40" dirty="0">
                <a:solidFill>
                  <a:schemeClr val="tx1"/>
                </a:solidFill>
                <a:latin typeface="KoPubDotum Medium" pitchFamily="2" charset="-127"/>
                <a:ea typeface="KoPubDotum Medium" pitchFamily="2" charset="-127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4396AFE-8D46-16C4-D107-C1AD3D5442A2}"/>
              </a:ext>
            </a:extLst>
          </p:cNvPr>
          <p:cNvSpPr/>
          <p:nvPr/>
        </p:nvSpPr>
        <p:spPr>
          <a:xfrm>
            <a:off x="358215" y="8063989"/>
            <a:ext cx="1694045" cy="1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6109" algn="ctr"/>
            <a:r>
              <a:rPr kumimoji="1" lang="ko-KR" altLang="en-US" sz="800" b="1" dirty="0">
                <a:solidFill>
                  <a:schemeClr val="bg1"/>
                </a:solidFill>
                <a:latin typeface="HYHeadLine-Medium" panose="02030600000101010101" pitchFamily="18" charset="-127"/>
                <a:ea typeface="HYHeadLine-Medium" panose="02030600000101010101" pitchFamily="18" charset="-127"/>
              </a:rPr>
              <a:t>공동연구 희망분야</a:t>
            </a:r>
          </a:p>
        </p:txBody>
      </p:sp>
    </p:spTree>
    <p:extLst>
      <p:ext uri="{BB962C8B-B14F-4D97-AF65-F5344CB8AC3E}">
        <p14:creationId xmlns:p14="http://schemas.microsoft.com/office/powerpoint/2010/main" val="1519372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336</Words>
  <Application>Microsoft Macintosh PowerPoint</Application>
  <PresentationFormat>A4 용지(210x297mm)</PresentationFormat>
  <Paragraphs>44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Gmarket Sans TTF Bold</vt:lpstr>
      <vt:lpstr>HYHeadLine-Medium</vt:lpstr>
      <vt:lpstr>KoPubDotum Bold</vt:lpstr>
      <vt:lpstr>KoPubDotum Medium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윤석민</dc:creator>
  <cp:lastModifiedBy>이한국</cp:lastModifiedBy>
  <cp:revision>3</cp:revision>
  <dcterms:created xsi:type="dcterms:W3CDTF">2026-08-12T06:29:17Z</dcterms:created>
  <dcterms:modified xsi:type="dcterms:W3CDTF">2026-09-11T12:59:28Z</dcterms:modified>
</cp:coreProperties>
</file>